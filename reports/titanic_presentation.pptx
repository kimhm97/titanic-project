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1" r:id="rId1"/>
  </p:sldMasterIdLst>
  <p:sldIdLst>
    <p:sldId id="256" r:id="rId2"/>
    <p:sldId id="270" r:id="rId3"/>
    <p:sldId id="257" r:id="rId4"/>
    <p:sldId id="258" r:id="rId5"/>
    <p:sldId id="259" r:id="rId6"/>
    <p:sldId id="268" r:id="rId7"/>
    <p:sldId id="261" r:id="rId8"/>
    <p:sldId id="260" r:id="rId9"/>
    <p:sldId id="267" r:id="rId10"/>
    <p:sldId id="269" r:id="rId11"/>
    <p:sldId id="262" r:id="rId12"/>
    <p:sldId id="263" r:id="rId13"/>
    <p:sldId id="271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yemin kim" userId="ed8f998887ae544d" providerId="LiveId" clId="{1AACBC48-ABED-4B6C-9B41-D31596C03978}"/>
    <pc:docChg chg="undo custSel modSld">
      <pc:chgData name="hyemin kim" userId="ed8f998887ae544d" providerId="LiveId" clId="{1AACBC48-ABED-4B6C-9B41-D31596C03978}" dt="2026-04-27T16:45:16.779" v="34" actId="1076"/>
      <pc:docMkLst>
        <pc:docMk/>
      </pc:docMkLst>
      <pc:sldChg chg="addSp delSp modSp mod">
        <pc:chgData name="hyemin kim" userId="ed8f998887ae544d" providerId="LiveId" clId="{1AACBC48-ABED-4B6C-9B41-D31596C03978}" dt="2026-04-27T16:45:16.779" v="34" actId="1076"/>
        <pc:sldMkLst>
          <pc:docMk/>
          <pc:sldMk cId="0" sldId="266"/>
        </pc:sldMkLst>
        <pc:spChg chg="add mod">
          <ac:chgData name="hyemin kim" userId="ed8f998887ae544d" providerId="LiveId" clId="{1AACBC48-ABED-4B6C-9B41-D31596C03978}" dt="2026-04-27T16:45:16.779" v="34" actId="1076"/>
          <ac:spMkLst>
            <pc:docMk/>
            <pc:sldMk cId="0" sldId="266"/>
            <ac:spMk id="9" creationId="{B4CB587A-DDD8-439B-13E3-87158F8FE00B}"/>
          </ac:spMkLst>
        </pc:spChg>
        <pc:picChg chg="add del">
          <ac:chgData name="hyemin kim" userId="ed8f998887ae544d" providerId="LiveId" clId="{1AACBC48-ABED-4B6C-9B41-D31596C03978}" dt="2026-04-27T16:44:13.249" v="1" actId="22"/>
          <ac:picMkLst>
            <pc:docMk/>
            <pc:sldMk cId="0" sldId="266"/>
            <ac:picMk id="7" creationId="{AB0FAC72-7435-946F-5BC9-57C9DAA9CF7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BE026-B5B1-D2F6-C7B7-006FF8A6A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39B032-77DF-C3F1-EE9E-BA3079EE42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22F809-4FA9-78EE-98FD-04D1DFA34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486E8F-3631-CDD5-305F-3A0E325A9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37865F-FBC9-DB2B-AB66-D2B75CB4C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631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D268D1-7E71-1B53-E0AB-36D08C135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C131C7-B0DF-8786-20C0-1ABEC944F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BE8C41-A62C-DC81-3350-A7721235D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627943-0519-8D15-2465-9F57AFDC0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CF3EB3-4231-FA5C-519C-19622CE08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16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474B4E-090A-FE72-860E-67FA58F24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7066DA-9DED-DB14-8AA9-71A610369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383828-9622-FD29-4ABC-81853EA3C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76DBA1-3BFB-90E5-F858-414ADEA74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E657F0-6286-11CB-BED6-64989D93E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706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06432-3947-5F40-E3D3-8D551FA04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D7BCD7-D1EE-0C8A-7C17-AD001DF3B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A2FF53-4DFC-2EEB-0C1C-BBEB13BB9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22FCC8-42DD-AD8E-9C4F-ABD33830C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DF10FB-BB40-967B-84A0-6AE01C95F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0C478E-D96C-1267-4F7A-03FCB2A2E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409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0A6DF-B7A0-F6C5-8EED-21BE0FC16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94A985-53CD-76DA-2FCB-A5C2AA3F6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2C00D8-6889-A399-917C-3D3BEDA7F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B0AF6FD-E5A2-AA3C-42AB-5BC1F4C070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6E65C4-F088-F7B5-C116-F61D65AA92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B31C945-4A9E-5900-9CB3-5461BE3C2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8657F50-56E7-339B-7C86-A23CF13B4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3992A5E-846F-5238-2AF0-7F850CC2C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38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D790D-646F-0E83-F144-474ED8D8C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C9B6A81-CEE6-D55B-7033-642E8B9E9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110B44E-5E33-37C2-BCB7-F5E77ECE7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3B73B5-3F98-019B-9270-07994B0C9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148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7CF757-F67E-284C-0C68-D2A5A6B44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C3221F-28A0-11CF-CC5A-7DFB79937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89D3BE-3EEF-D59A-022F-4ACB65C5D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524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0D0CC-96FA-B8B5-9A09-D305F72BA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F3F22E-EC32-2A41-306F-AB5C6FC3C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6180FC-B9C7-A3D5-B7C5-A58178D75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A0825E-D361-2A66-CC0A-1230D0EDF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A84A96-BBC4-E279-7177-8DCF96751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F3C45D-F839-03B6-0431-57F782D52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2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CDFB02-E300-85C4-9918-908F559A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DC1C0DC-91AA-0396-A94C-5738AC3B2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FEE7B4-74D0-CC3F-A818-86B5C3E076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7EB305-E63C-0C7B-49D4-15BFBB048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125D24-5271-C3E6-164F-7F66667C4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5D3CA4-39B0-2FF8-57D1-37AB89BE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27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69C54F-3980-C8A9-F099-83EB53FA0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E894F0-F9BA-76BA-BDB0-44D500005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06871A-49B5-EAAE-6F07-9C83EE4DD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628A14-88E5-F3E9-F065-135F92B64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39BFF8-F045-BF49-AF2E-9974B0CFC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502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0064E25-ADB7-CD11-75C7-568E9D9B9F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FAF229-ECE5-9431-5A0F-F5C2F65C1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180DD7-46A0-2550-F8BB-9D27FA41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9BE6DC-EC12-A381-49F0-985B8A93E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0AAA3C-A825-52C2-FEC0-4FBD203B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248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4352A19-0E74-09E2-509B-EAAF1B67F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E74103-2CF7-7ED6-A88B-53BC7EDB9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C20567-91C6-83A2-813C-27D0F5D50E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5BD62C-19FB-646B-4C46-0F1B82BEE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640AA7-ABC5-58A7-FAA3-6F2F47215C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429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60476"/>
            <a:ext cx="7886700" cy="1325563"/>
          </a:xfrm>
        </p:spPr>
        <p:txBody>
          <a:bodyPr>
            <a:normAutofit/>
          </a:bodyPr>
          <a:lstStyle/>
          <a:p>
            <a:r>
              <a:rPr sz="4400" dirty="0" err="1"/>
              <a:t>타이타닉</a:t>
            </a:r>
            <a:r>
              <a:rPr sz="4400" dirty="0"/>
              <a:t> </a:t>
            </a:r>
            <a:r>
              <a:rPr sz="4400" dirty="0" err="1"/>
              <a:t>생존</a:t>
            </a:r>
            <a:r>
              <a:rPr sz="4400" dirty="0"/>
              <a:t> </a:t>
            </a:r>
            <a:r>
              <a:rPr sz="4400" dirty="0" err="1"/>
              <a:t>예측</a:t>
            </a:r>
            <a:r>
              <a:rPr sz="4400" dirty="0"/>
              <a:t> </a:t>
            </a:r>
            <a:r>
              <a:rPr sz="4400" dirty="0" err="1"/>
              <a:t>프로젝트</a:t>
            </a:r>
            <a:endParaRPr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3124387"/>
            <a:ext cx="6791326" cy="935504"/>
          </a:xfrm>
        </p:spPr>
        <p:txBody>
          <a:bodyPr>
            <a:normAutofit/>
          </a:bodyPr>
          <a:lstStyle/>
          <a:p>
            <a:r>
              <a:rPr sz="2400" dirty="0" err="1"/>
              <a:t>데이터</a:t>
            </a:r>
            <a:r>
              <a:rPr sz="2400" dirty="0"/>
              <a:t> </a:t>
            </a:r>
            <a:r>
              <a:rPr sz="2400" dirty="0" err="1"/>
              <a:t>분석</a:t>
            </a:r>
            <a:r>
              <a:rPr sz="2400" dirty="0"/>
              <a:t> 및 </a:t>
            </a:r>
            <a:r>
              <a:rPr sz="2400" dirty="0" err="1"/>
              <a:t>머신러닝</a:t>
            </a:r>
            <a:r>
              <a:rPr sz="2400" dirty="0"/>
              <a:t> </a:t>
            </a:r>
            <a:r>
              <a:rPr sz="2400" dirty="0" err="1"/>
              <a:t>기반</a:t>
            </a:r>
            <a:r>
              <a:rPr sz="2400" dirty="0"/>
              <a:t> </a:t>
            </a:r>
            <a:r>
              <a:rPr sz="2400" dirty="0" err="1"/>
              <a:t>생존</a:t>
            </a:r>
            <a:r>
              <a:rPr sz="2400" dirty="0"/>
              <a:t> </a:t>
            </a:r>
            <a:r>
              <a:rPr sz="2400" dirty="0" err="1"/>
              <a:t>요인</a:t>
            </a:r>
            <a:r>
              <a:rPr sz="2400" dirty="0"/>
              <a:t> </a:t>
            </a:r>
            <a:r>
              <a:rPr sz="2400" dirty="0" err="1"/>
              <a:t>분석</a:t>
            </a:r>
            <a:endParaRPr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3C829F-E602-2210-8653-5C2A47F29C54}"/>
              </a:ext>
            </a:extLst>
          </p:cNvPr>
          <p:cNvSpPr txBox="1"/>
          <p:nvPr/>
        </p:nvSpPr>
        <p:spPr>
          <a:xfrm>
            <a:off x="7073153" y="630820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김혜민 </a:t>
            </a:r>
            <a:r>
              <a:rPr lang="en-US" altLang="ko-KR" dirty="0"/>
              <a:t>| 2026.04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7707C-78C9-AE1B-4113-613A6B9E2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86654-9DDF-A47E-D649-A15B8C751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03" y="-122829"/>
            <a:ext cx="7886700" cy="1325563"/>
          </a:xfrm>
        </p:spPr>
        <p:txBody>
          <a:bodyPr/>
          <a:lstStyle/>
          <a:p>
            <a:r>
              <a:rPr lang="ko-KR" altLang="en-US" dirty="0"/>
              <a:t>목차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A6292D-98B1-6560-8A2D-270858B0FCAF}"/>
              </a:ext>
            </a:extLst>
          </p:cNvPr>
          <p:cNvSpPr txBox="1"/>
          <p:nvPr/>
        </p:nvSpPr>
        <p:spPr>
          <a:xfrm>
            <a:off x="409903" y="1202734"/>
            <a:ext cx="8105447" cy="5954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프로젝트 개요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데이터 소개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문제 정의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Info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결측값</a:t>
            </a:r>
            <a:r>
              <a:rPr lang="ko-KR" altLang="en-US" sz="1600" dirty="0"/>
              <a:t> 처리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EDA (</a:t>
            </a:r>
            <a:r>
              <a:rPr lang="ko-KR" altLang="en-US" sz="1600" dirty="0" err="1"/>
              <a:t>단변량</a:t>
            </a:r>
            <a:r>
              <a:rPr lang="ko-KR" altLang="en-US" sz="1600" dirty="0"/>
              <a:t> 분석</a:t>
            </a:r>
            <a:r>
              <a:rPr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EDA (</a:t>
            </a:r>
            <a:r>
              <a:rPr lang="ko-KR" altLang="en-US" sz="1600" dirty="0" err="1"/>
              <a:t>이변량</a:t>
            </a:r>
            <a:r>
              <a:rPr lang="ko-KR" altLang="en-US" sz="1600" dirty="0"/>
              <a:t> 분석</a:t>
            </a:r>
            <a:r>
              <a:rPr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통계 검정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Feature</a:t>
            </a:r>
            <a:r>
              <a:rPr lang="ko-KR" altLang="en-US" sz="1600" dirty="0"/>
              <a:t> Engineering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모델링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Feature</a:t>
            </a:r>
            <a:r>
              <a:rPr lang="ko-KR" altLang="en-US" sz="1600" dirty="0"/>
              <a:t> </a:t>
            </a:r>
            <a:r>
              <a:rPr lang="ko-KR" altLang="en-US" sz="1600" dirty="0" err="1"/>
              <a:t>Importance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결과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한계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결론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354326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프로젝트</a:t>
            </a:r>
            <a:r>
              <a:rPr dirty="0"/>
              <a:t> </a:t>
            </a:r>
            <a:r>
              <a:rPr dirty="0" err="1"/>
              <a:t>개요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CF1015-FCCD-3594-E63E-F7AE585D5588}"/>
              </a:ext>
            </a:extLst>
          </p:cNvPr>
          <p:cNvSpPr txBox="1"/>
          <p:nvPr/>
        </p:nvSpPr>
        <p:spPr>
          <a:xfrm>
            <a:off x="628650" y="2147105"/>
            <a:ext cx="8105447" cy="443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타이타닉 데이터를 기반으로 생존 여부를 예측하고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단순 모델링이 아닌 데이터 기반 분석을 중심으로 진행했습니다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pPr>
              <a:lnSpc>
                <a:spcPct val="200000"/>
              </a:lnSpc>
            </a:pPr>
            <a:r>
              <a:rPr lang="en-US" altLang="ko-KR" dirty="0"/>
              <a:t>• EDA </a:t>
            </a:r>
            <a:r>
              <a:rPr lang="ko-KR" altLang="en-US" dirty="0"/>
              <a:t>기반 변수 분포 및 생존 패턴 분석</a:t>
            </a:r>
          </a:p>
          <a:p>
            <a:pPr>
              <a:lnSpc>
                <a:spcPct val="200000"/>
              </a:lnSpc>
            </a:pPr>
            <a:r>
              <a:rPr lang="en-US" altLang="ko-KR" dirty="0"/>
              <a:t>• </a:t>
            </a:r>
            <a:r>
              <a:rPr lang="ko-KR" altLang="en-US" dirty="0"/>
              <a:t>통계 검정을 통한 변수 유의성 검증</a:t>
            </a:r>
          </a:p>
          <a:p>
            <a:pPr>
              <a:lnSpc>
                <a:spcPct val="200000"/>
              </a:lnSpc>
            </a:pPr>
            <a:r>
              <a:rPr lang="en-US" altLang="ko-KR" dirty="0"/>
              <a:t>• </a:t>
            </a:r>
            <a:r>
              <a:rPr lang="ko-KR" altLang="en-US" dirty="0"/>
              <a:t>파생 변수 생성 </a:t>
            </a:r>
            <a:r>
              <a:rPr lang="en-US" altLang="ko-KR" dirty="0"/>
              <a:t>(Feature Engineering)</a:t>
            </a:r>
          </a:p>
          <a:p>
            <a:pPr>
              <a:lnSpc>
                <a:spcPct val="200000"/>
              </a:lnSpc>
            </a:pPr>
            <a:r>
              <a:rPr lang="en-US" altLang="ko-KR" dirty="0"/>
              <a:t>• </a:t>
            </a:r>
            <a:r>
              <a:rPr lang="ko-KR" altLang="en-US" dirty="0"/>
              <a:t>모델 비교 및 성능 평가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200000"/>
              </a:lnSpc>
            </a:pPr>
            <a:r>
              <a:rPr lang="ko-KR" altLang="en-US" dirty="0"/>
              <a:t>데이터 기반으로 변수의 영향을 분석하고 예측 모델을 구축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0998AD-06F0-6A57-D377-3DFF146FF301}"/>
              </a:ext>
            </a:extLst>
          </p:cNvPr>
          <p:cNvSpPr txBox="1"/>
          <p:nvPr/>
        </p:nvSpPr>
        <p:spPr>
          <a:xfrm>
            <a:off x="628648" y="134906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Titanic</a:t>
            </a:r>
            <a:r>
              <a:rPr lang="ko-KR" altLang="en-US" dirty="0"/>
              <a:t> </a:t>
            </a:r>
            <a:r>
              <a:rPr lang="ko-KR" altLang="en-US" dirty="0" err="1"/>
              <a:t>Survival</a:t>
            </a:r>
            <a:r>
              <a:rPr lang="ko-KR" altLang="en-US" dirty="0"/>
              <a:t> </a:t>
            </a:r>
            <a:r>
              <a:rPr lang="ko-KR" altLang="en-US" dirty="0" err="1"/>
              <a:t>Prediction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소개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37A6B1-C7C5-291E-0C7D-16569A77029E}"/>
              </a:ext>
            </a:extLst>
          </p:cNvPr>
          <p:cNvSpPr txBox="1"/>
          <p:nvPr/>
        </p:nvSpPr>
        <p:spPr>
          <a:xfrm>
            <a:off x="628650" y="1106865"/>
            <a:ext cx="7372350" cy="5024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altLang="ko-KR" dirty="0"/>
              <a:t>• </a:t>
            </a:r>
            <a:r>
              <a:rPr lang="ko-KR" altLang="en-US" dirty="0"/>
              <a:t>데이터셋</a:t>
            </a:r>
            <a:r>
              <a:rPr lang="en-US" altLang="ko-KR" dirty="0"/>
              <a:t>: Kaggle Titanic Dataset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• Train 891</a:t>
            </a:r>
            <a:r>
              <a:rPr lang="ko-KR" altLang="en-US" dirty="0"/>
              <a:t>건 </a:t>
            </a:r>
            <a:r>
              <a:rPr lang="en-US" altLang="ko-KR" dirty="0"/>
              <a:t>/ Test 418</a:t>
            </a:r>
            <a:r>
              <a:rPr lang="ko-KR" altLang="en-US" dirty="0"/>
              <a:t>건</a:t>
            </a:r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altLang="ko-KR" dirty="0"/>
              <a:t>• </a:t>
            </a:r>
            <a:r>
              <a:rPr lang="ko-KR" altLang="en-US" dirty="0"/>
              <a:t>주요 변수</a:t>
            </a:r>
            <a:r>
              <a:rPr lang="en-US" altLang="ko-KR" dirty="0"/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- </a:t>
            </a:r>
            <a:r>
              <a:rPr lang="ko-KR" altLang="en-US" dirty="0"/>
              <a:t>성별</a:t>
            </a:r>
            <a:r>
              <a:rPr lang="en-US" altLang="ko-KR" dirty="0"/>
              <a:t>(Sex), </a:t>
            </a:r>
            <a:r>
              <a:rPr lang="ko-KR" altLang="en-US" dirty="0"/>
              <a:t>나이</a:t>
            </a:r>
            <a:r>
              <a:rPr lang="en-US" altLang="ko-KR" dirty="0"/>
              <a:t>(Age)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- </a:t>
            </a:r>
            <a:r>
              <a:rPr lang="ko-KR" altLang="en-US" dirty="0"/>
              <a:t>요금</a:t>
            </a:r>
            <a:r>
              <a:rPr lang="en-US" altLang="ko-KR" dirty="0"/>
              <a:t>(Fare), </a:t>
            </a:r>
            <a:r>
              <a:rPr lang="ko-KR" altLang="en-US" dirty="0"/>
              <a:t>객실 등급</a:t>
            </a:r>
            <a:r>
              <a:rPr lang="en-US" altLang="ko-KR" dirty="0"/>
              <a:t>(</a:t>
            </a:r>
            <a:r>
              <a:rPr lang="en-US" altLang="ko-KR" dirty="0" err="1"/>
              <a:t>Pclass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승객 특성에 따라 생존 여부가 달라지는 구조</a:t>
            </a:r>
          </a:p>
          <a:p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altLang="ko-KR" dirty="0"/>
              <a:t>• </a:t>
            </a:r>
            <a:r>
              <a:rPr lang="ko-KR" altLang="en-US" dirty="0"/>
              <a:t>범주형 변수와 수치형 변수가 혼합된 데이터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• </a:t>
            </a:r>
            <a:r>
              <a:rPr lang="ko-KR" altLang="en-US" dirty="0"/>
              <a:t>문제 유형</a:t>
            </a:r>
            <a:r>
              <a:rPr lang="en-US" altLang="ko-KR" dirty="0"/>
              <a:t>: </a:t>
            </a:r>
            <a:r>
              <a:rPr lang="ko-KR" altLang="en-US" dirty="0"/>
              <a:t>이진 분류 </a:t>
            </a:r>
            <a:r>
              <a:rPr lang="en-US" altLang="ko-KR" dirty="0"/>
              <a:t>(Binary Classification)</a:t>
            </a: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710F3-8D38-8AAE-D2B5-4F06A00F52F5}"/>
              </a:ext>
            </a:extLst>
          </p:cNvPr>
          <p:cNvSpPr txBox="1"/>
          <p:nvPr/>
        </p:nvSpPr>
        <p:spPr>
          <a:xfrm>
            <a:off x="638174" y="1690689"/>
            <a:ext cx="8181975" cy="3155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 dirty="0"/>
              <a:t>타이타닉 승객 데이터를 기반으로 생존 여부를 예측하고</a:t>
            </a:r>
            <a:r>
              <a:rPr lang="en-US" altLang="ko-KR" dirty="0"/>
              <a:t>,</a:t>
            </a:r>
          </a:p>
          <a:p>
            <a:pPr>
              <a:lnSpc>
                <a:spcPct val="200000"/>
              </a:lnSpc>
            </a:pPr>
            <a:r>
              <a:rPr lang="ko-KR" altLang="en-US" dirty="0"/>
              <a:t>생존에 영향을 미치는 주요 요인을 분석하는 것을 목표로 합니다</a:t>
            </a:r>
            <a:r>
              <a:rPr lang="en-US" altLang="ko-KR" dirty="0"/>
              <a:t>.</a:t>
            </a:r>
          </a:p>
          <a:p>
            <a:pPr>
              <a:lnSpc>
                <a:spcPct val="200000"/>
              </a:lnSpc>
            </a:pPr>
            <a:endParaRPr lang="en-US" altLang="ko-KR" dirty="0"/>
          </a:p>
          <a:p>
            <a:pPr>
              <a:lnSpc>
                <a:spcPct val="250000"/>
              </a:lnSpc>
            </a:pPr>
            <a:r>
              <a:rPr lang="en-US" altLang="ko-KR" dirty="0"/>
              <a:t>• </a:t>
            </a:r>
            <a:r>
              <a:rPr lang="ko-KR" altLang="en-US" dirty="0"/>
              <a:t>승객 정보로 생존 여부를 예측할 수 있는가</a:t>
            </a:r>
            <a:r>
              <a:rPr lang="en-US" altLang="ko-KR" dirty="0"/>
              <a:t>?</a:t>
            </a:r>
          </a:p>
          <a:p>
            <a:pPr>
              <a:lnSpc>
                <a:spcPct val="250000"/>
              </a:lnSpc>
            </a:pPr>
            <a:r>
              <a:rPr lang="en-US" altLang="ko-KR" dirty="0"/>
              <a:t>• </a:t>
            </a:r>
            <a:r>
              <a:rPr lang="ko-KR" altLang="en-US" dirty="0"/>
              <a:t>어떤 변수들이 생존에 유의미한 영향을 미치는가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71606-8209-F1B2-ADB3-13C58A8C1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88DE6-EA21-E9CF-2279-B2C2F31A8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539" y="223242"/>
            <a:ext cx="7886700" cy="1325563"/>
          </a:xfrm>
        </p:spPr>
        <p:txBody>
          <a:bodyPr/>
          <a:lstStyle/>
          <a:p>
            <a:r>
              <a:rPr lang="en-US" dirty="0"/>
              <a:t>info</a:t>
            </a:r>
            <a:endParaRPr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4199C5-0B99-D9F1-EBC0-EC48FBC33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72" y="1709452"/>
            <a:ext cx="5296639" cy="4086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7D61FD-41E8-38B2-D1EE-4AD0DF61F8A7}"/>
              </a:ext>
            </a:extLst>
          </p:cNvPr>
          <p:cNvSpPr txBox="1"/>
          <p:nvPr/>
        </p:nvSpPr>
        <p:spPr>
          <a:xfrm>
            <a:off x="5472111" y="2263179"/>
            <a:ext cx="3573049" cy="1880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200" dirty="0"/>
              <a:t>• </a:t>
            </a:r>
            <a:r>
              <a:rPr lang="ko-KR" altLang="en-US" sz="1200" dirty="0" err="1"/>
              <a:t>Age</a:t>
            </a:r>
            <a:r>
              <a:rPr lang="ko-KR" altLang="en-US" sz="1200" dirty="0"/>
              <a:t> 약 20% 결측 → 보완 필요</a:t>
            </a:r>
          </a:p>
          <a:p>
            <a:pPr>
              <a:lnSpc>
                <a:spcPct val="200000"/>
              </a:lnSpc>
            </a:pPr>
            <a:endParaRPr lang="ko-KR" altLang="en-US" sz="1200" dirty="0"/>
          </a:p>
          <a:p>
            <a:pPr>
              <a:lnSpc>
                <a:spcPct val="200000"/>
              </a:lnSpc>
            </a:pPr>
            <a:r>
              <a:rPr lang="ko-KR" altLang="en-US" sz="1200" dirty="0"/>
              <a:t>• </a:t>
            </a:r>
            <a:r>
              <a:rPr lang="ko-KR" altLang="en-US" sz="1200" dirty="0" err="1"/>
              <a:t>Cabin</a:t>
            </a:r>
            <a:r>
              <a:rPr lang="ko-KR" altLang="en-US" sz="1200" dirty="0"/>
              <a:t> 약 77% 결측 → 직접 사용 어려움</a:t>
            </a:r>
          </a:p>
          <a:p>
            <a:pPr>
              <a:lnSpc>
                <a:spcPct val="200000"/>
              </a:lnSpc>
            </a:pPr>
            <a:endParaRPr lang="ko-KR" altLang="en-US" sz="1200" dirty="0"/>
          </a:p>
          <a:p>
            <a:pPr>
              <a:lnSpc>
                <a:spcPct val="200000"/>
              </a:lnSpc>
            </a:pPr>
            <a:r>
              <a:rPr lang="ko-KR" altLang="en-US" sz="1200" dirty="0"/>
              <a:t>• </a:t>
            </a:r>
            <a:r>
              <a:rPr lang="ko-KR" altLang="en-US" sz="1200" dirty="0" err="1"/>
              <a:t>Embarked</a:t>
            </a:r>
            <a:r>
              <a:rPr lang="ko-KR" altLang="en-US" sz="1200" dirty="0"/>
              <a:t> 결측 거의 없음 → 단순 대체 가능</a:t>
            </a:r>
          </a:p>
        </p:txBody>
      </p:sp>
    </p:spTree>
    <p:extLst>
      <p:ext uri="{BB962C8B-B14F-4D97-AF65-F5344CB8AC3E}">
        <p14:creationId xmlns:p14="http://schemas.microsoft.com/office/powerpoint/2010/main" val="753945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789" y="431695"/>
            <a:ext cx="7886700" cy="1325563"/>
          </a:xfrm>
        </p:spPr>
        <p:txBody>
          <a:bodyPr/>
          <a:lstStyle/>
          <a:p>
            <a:r>
              <a:rPr dirty="0" err="1"/>
              <a:t>결측값</a:t>
            </a:r>
            <a:r>
              <a:rPr dirty="0"/>
              <a:t> </a:t>
            </a:r>
            <a:r>
              <a:rPr dirty="0" err="1"/>
              <a:t>처리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36" y="1590780"/>
            <a:ext cx="3952875" cy="46672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100" dirty="0"/>
              <a:t>• Age</a:t>
            </a:r>
          </a:p>
          <a:p>
            <a:pPr marL="0" indent="0">
              <a:buNone/>
            </a:pPr>
            <a:r>
              <a:rPr lang="en-US" altLang="ko-KR" sz="1100" dirty="0"/>
              <a:t>  - </a:t>
            </a:r>
            <a:r>
              <a:rPr lang="en-US" altLang="ko-KR" sz="1100" dirty="0" err="1"/>
              <a:t>Pclass</a:t>
            </a:r>
            <a:r>
              <a:rPr lang="en-US" altLang="ko-KR" sz="1100" dirty="0"/>
              <a:t> + Sex </a:t>
            </a:r>
            <a:r>
              <a:rPr lang="ko-KR" altLang="en-US" sz="1100" dirty="0"/>
              <a:t>기준 중앙값 대체</a:t>
            </a:r>
          </a:p>
          <a:p>
            <a:pPr marL="0" indent="0">
              <a:buNone/>
            </a:pPr>
            <a:r>
              <a:rPr lang="ko-KR" altLang="en-US" sz="1100" dirty="0"/>
              <a:t>  → 그룹별 특성 반영</a:t>
            </a:r>
          </a:p>
          <a:p>
            <a:pPr marL="0" indent="0">
              <a:buNone/>
            </a:pPr>
            <a:endParaRPr lang="ko-KR" altLang="en-US" sz="1100" dirty="0"/>
          </a:p>
          <a:p>
            <a:pPr marL="0" indent="0">
              <a:buNone/>
            </a:pPr>
            <a:r>
              <a:rPr lang="en-US" altLang="ko-KR" sz="1100" dirty="0"/>
              <a:t>• Embarked</a:t>
            </a:r>
          </a:p>
          <a:p>
            <a:pPr marL="0" indent="0">
              <a:buNone/>
            </a:pPr>
            <a:r>
              <a:rPr lang="en-US" altLang="ko-KR" sz="1100" dirty="0"/>
              <a:t>  - </a:t>
            </a:r>
            <a:r>
              <a:rPr lang="ko-KR" altLang="en-US" sz="1100" dirty="0" err="1"/>
              <a:t>최빈값</a:t>
            </a:r>
            <a:r>
              <a:rPr lang="ko-KR" altLang="en-US" sz="1100" dirty="0"/>
              <a:t> 대체</a:t>
            </a:r>
          </a:p>
          <a:p>
            <a:pPr marL="0" indent="0">
              <a:buNone/>
            </a:pPr>
            <a:r>
              <a:rPr lang="ko-KR" altLang="en-US" sz="1100" dirty="0"/>
              <a:t>  → 결측 비율이 낮아 단순 대체 적용</a:t>
            </a:r>
          </a:p>
          <a:p>
            <a:pPr marL="0" indent="0">
              <a:buNone/>
            </a:pPr>
            <a:endParaRPr lang="ko-KR" altLang="en-US" sz="1100" dirty="0"/>
          </a:p>
          <a:p>
            <a:pPr marL="0" indent="0">
              <a:buNone/>
            </a:pPr>
            <a:r>
              <a:rPr lang="en-US" altLang="ko-KR" sz="1100" dirty="0"/>
              <a:t>• Fare</a:t>
            </a:r>
          </a:p>
          <a:p>
            <a:pPr marL="0" indent="0">
              <a:buNone/>
            </a:pPr>
            <a:r>
              <a:rPr lang="en-US" altLang="ko-KR" sz="1100" dirty="0"/>
              <a:t>  - </a:t>
            </a:r>
            <a:r>
              <a:rPr lang="ko-KR" altLang="en-US" sz="1100" dirty="0"/>
              <a:t>중앙값 대체</a:t>
            </a:r>
          </a:p>
          <a:p>
            <a:pPr marL="0" indent="0">
              <a:buNone/>
            </a:pPr>
            <a:r>
              <a:rPr lang="ko-KR" altLang="en-US" sz="1100" dirty="0"/>
              <a:t>  → 이상치 영향 최소화</a:t>
            </a:r>
          </a:p>
          <a:p>
            <a:pPr marL="0" indent="0">
              <a:buNone/>
            </a:pPr>
            <a:endParaRPr lang="ko-KR" altLang="en-US" sz="1100" dirty="0"/>
          </a:p>
          <a:p>
            <a:pPr marL="0" indent="0">
              <a:buNone/>
            </a:pPr>
            <a:r>
              <a:rPr lang="en-US" altLang="ko-KR" sz="1100" dirty="0"/>
              <a:t>• Cabin</a:t>
            </a:r>
          </a:p>
          <a:p>
            <a:pPr marL="0" indent="0">
              <a:buNone/>
            </a:pPr>
            <a:r>
              <a:rPr lang="en-US" altLang="ko-KR" sz="1100" dirty="0"/>
              <a:t>  - </a:t>
            </a:r>
            <a:r>
              <a:rPr lang="ko-KR" altLang="en-US" sz="1100" dirty="0"/>
              <a:t>결측 비율 높아 파생 변수 활용</a:t>
            </a:r>
          </a:p>
          <a:p>
            <a:pPr marL="0" indent="0">
              <a:buNone/>
            </a:pPr>
            <a:endParaRPr lang="ko-KR" altLang="en-US" sz="1100" dirty="0"/>
          </a:p>
          <a:p>
            <a:pPr marL="0" indent="0">
              <a:buNone/>
            </a:pPr>
            <a:r>
              <a:rPr lang="ko-KR" altLang="en-US" sz="1100" dirty="0"/>
              <a:t>→ 데이터 손실 최소화 및 정보 보존</a:t>
            </a:r>
            <a:endParaRPr sz="11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2CA476D-BC0E-8CE3-DA55-6CD1E6030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446" y="2141003"/>
            <a:ext cx="2777054" cy="16833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775" y="-245691"/>
            <a:ext cx="7886700" cy="1325563"/>
          </a:xfrm>
        </p:spPr>
        <p:txBody>
          <a:bodyPr/>
          <a:lstStyle/>
          <a:p>
            <a:r>
              <a:rPr lang="en-US" altLang="ko-KR" dirty="0"/>
              <a:t>EDA (</a:t>
            </a:r>
            <a:r>
              <a:rPr lang="ko-KR" altLang="en-US" dirty="0" err="1"/>
              <a:t>단변량</a:t>
            </a:r>
            <a:r>
              <a:rPr lang="ko-KR" altLang="en-US" dirty="0"/>
              <a:t> 분석</a:t>
            </a:r>
            <a:r>
              <a:rPr lang="en-US" altLang="ko-KR" dirty="0"/>
              <a:t>)</a:t>
            </a:r>
            <a:endParaRPr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6A1C7CE-7503-433A-82A1-D0A7D6D59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78" y="731068"/>
            <a:ext cx="5508280" cy="269793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3ED5041-D642-F666-9FB5-731690540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78" y="3693145"/>
            <a:ext cx="5622162" cy="27537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ED95B3A-A82B-D89B-5A8E-06A4791A3FAA}"/>
              </a:ext>
            </a:extLst>
          </p:cNvPr>
          <p:cNvSpPr txBox="1"/>
          <p:nvPr/>
        </p:nvSpPr>
        <p:spPr>
          <a:xfrm>
            <a:off x="5880640" y="894903"/>
            <a:ext cx="3118764" cy="4627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ko-KR" sz="1200" dirty="0"/>
              <a:t>• Fare</a:t>
            </a:r>
            <a:r>
              <a:rPr lang="ko-KR" altLang="en-US" sz="1200" dirty="0"/>
              <a:t>는 이상치 영향이 크며</a:t>
            </a:r>
            <a:r>
              <a:rPr lang="en-US" altLang="ko-KR" sz="1200" dirty="0"/>
              <a:t>, </a:t>
            </a:r>
            <a:r>
              <a:rPr lang="ko-KR" altLang="en-US" sz="1200" dirty="0"/>
              <a:t>오른쪽으로 강하게 치우친 분포를 보임</a:t>
            </a:r>
          </a:p>
          <a:p>
            <a:pPr>
              <a:lnSpc>
                <a:spcPct val="250000"/>
              </a:lnSpc>
            </a:pPr>
            <a:r>
              <a:rPr lang="ko-KR" altLang="en-US" sz="1200" dirty="0"/>
              <a:t>  → 로그 변환을 통해 모델 학습에 유리하도록 개선</a:t>
            </a:r>
          </a:p>
          <a:p>
            <a:pPr>
              <a:lnSpc>
                <a:spcPct val="250000"/>
              </a:lnSpc>
            </a:pPr>
            <a:endParaRPr lang="en-US" altLang="ko-KR" sz="1200" dirty="0"/>
          </a:p>
          <a:p>
            <a:pPr>
              <a:lnSpc>
                <a:spcPct val="250000"/>
              </a:lnSpc>
            </a:pPr>
            <a:endParaRPr lang="en-US" altLang="ko-KR" sz="1200" dirty="0"/>
          </a:p>
          <a:p>
            <a:pPr>
              <a:lnSpc>
                <a:spcPct val="250000"/>
              </a:lnSpc>
            </a:pPr>
            <a:endParaRPr lang="en-US" altLang="ko-KR" sz="1200" dirty="0"/>
          </a:p>
          <a:p>
            <a:pPr>
              <a:lnSpc>
                <a:spcPct val="250000"/>
              </a:lnSpc>
            </a:pPr>
            <a:endParaRPr lang="ko-KR" altLang="en-US" sz="1200" dirty="0"/>
          </a:p>
          <a:p>
            <a:pPr>
              <a:lnSpc>
                <a:spcPct val="250000"/>
              </a:lnSpc>
            </a:pPr>
            <a:r>
              <a:rPr lang="en-US" altLang="ko-KR" sz="1200" dirty="0"/>
              <a:t>• Age</a:t>
            </a:r>
            <a:r>
              <a:rPr lang="ko-KR" altLang="en-US" sz="1200" dirty="0"/>
              <a:t>는 비교적 정규분포에 가까운 형태를 보임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4E8A2-A90A-D542-EEDA-481FFF89C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27EB5-6F1D-1063-E313-EE0DC5B0D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" y="-245691"/>
            <a:ext cx="7886700" cy="1325563"/>
          </a:xfrm>
        </p:spPr>
        <p:txBody>
          <a:bodyPr/>
          <a:lstStyle/>
          <a:p>
            <a:r>
              <a:rPr lang="en-US" altLang="ko-KR" dirty="0"/>
              <a:t>EDA (</a:t>
            </a:r>
            <a:r>
              <a:rPr lang="ko-KR" altLang="en-US" dirty="0" err="1"/>
              <a:t>이변량</a:t>
            </a:r>
            <a:r>
              <a:rPr lang="ko-KR" altLang="en-US" dirty="0"/>
              <a:t> 분석</a:t>
            </a:r>
            <a:r>
              <a:rPr lang="en-US" altLang="ko-KR" dirty="0"/>
              <a:t>)</a:t>
            </a:r>
            <a:endParaRPr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47B6289-FEFF-66AA-E466-D415C8FD8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917947"/>
            <a:ext cx="5516714" cy="270131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3E1A748-7573-DD9A-BE34-807636C49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" y="3855163"/>
            <a:ext cx="5545289" cy="279270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1E17D8B-58EB-E173-EC25-253DF69AEA1F}"/>
              </a:ext>
            </a:extLst>
          </p:cNvPr>
          <p:cNvSpPr txBox="1"/>
          <p:nvPr/>
        </p:nvSpPr>
        <p:spPr>
          <a:xfrm>
            <a:off x="5737765" y="1197096"/>
            <a:ext cx="3118764" cy="4627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ko-KR" sz="1200" dirty="0"/>
              <a:t>• </a:t>
            </a:r>
            <a:r>
              <a:rPr lang="ko-KR" altLang="en-US" sz="1200" dirty="0"/>
              <a:t>성별</a:t>
            </a:r>
            <a:r>
              <a:rPr lang="en-US" altLang="ko-KR" sz="1200" dirty="0"/>
              <a:t>(Sex)</a:t>
            </a:r>
          </a:p>
          <a:p>
            <a:pPr>
              <a:lnSpc>
                <a:spcPct val="250000"/>
              </a:lnSpc>
            </a:pPr>
            <a:r>
              <a:rPr lang="en-US" altLang="ko-KR" sz="1200" dirty="0"/>
              <a:t>  - </a:t>
            </a:r>
            <a:r>
              <a:rPr lang="ko-KR" altLang="en-US" sz="1200" dirty="0"/>
              <a:t>여성 </a:t>
            </a:r>
            <a:r>
              <a:rPr lang="ko-KR" altLang="en-US" sz="1200" dirty="0" err="1"/>
              <a:t>생존률</a:t>
            </a:r>
            <a:r>
              <a:rPr lang="ko-KR" altLang="en-US" sz="1200" dirty="0"/>
              <a:t> </a:t>
            </a:r>
            <a:r>
              <a:rPr lang="en-US" altLang="ko-KR" sz="1200" dirty="0"/>
              <a:t>&gt; </a:t>
            </a:r>
            <a:r>
              <a:rPr lang="ko-KR" altLang="en-US" sz="1200" dirty="0"/>
              <a:t>남성</a:t>
            </a:r>
          </a:p>
          <a:p>
            <a:pPr>
              <a:lnSpc>
                <a:spcPct val="250000"/>
              </a:lnSpc>
            </a:pPr>
            <a:r>
              <a:rPr lang="ko-KR" altLang="en-US" sz="1200" dirty="0"/>
              <a:t>  → 주요 변수로 판단</a:t>
            </a:r>
          </a:p>
          <a:p>
            <a:pPr>
              <a:lnSpc>
                <a:spcPct val="250000"/>
              </a:lnSpc>
            </a:pPr>
            <a:endParaRPr lang="en-US" altLang="ko-KR" sz="1200" dirty="0"/>
          </a:p>
          <a:p>
            <a:pPr>
              <a:lnSpc>
                <a:spcPct val="250000"/>
              </a:lnSpc>
            </a:pPr>
            <a:endParaRPr lang="en-US" altLang="ko-KR" sz="1200" dirty="0"/>
          </a:p>
          <a:p>
            <a:pPr>
              <a:lnSpc>
                <a:spcPct val="250000"/>
              </a:lnSpc>
            </a:pPr>
            <a:endParaRPr lang="en-US" altLang="ko-KR" sz="1200" dirty="0"/>
          </a:p>
          <a:p>
            <a:pPr>
              <a:lnSpc>
                <a:spcPct val="250000"/>
              </a:lnSpc>
            </a:pPr>
            <a:endParaRPr lang="ko-KR" altLang="en-US" sz="1200" dirty="0"/>
          </a:p>
          <a:p>
            <a:pPr>
              <a:lnSpc>
                <a:spcPct val="250000"/>
              </a:lnSpc>
            </a:pPr>
            <a:r>
              <a:rPr lang="en-US" altLang="ko-KR" sz="1200" dirty="0"/>
              <a:t>• </a:t>
            </a:r>
            <a:r>
              <a:rPr lang="ko-KR" altLang="en-US" sz="1200" dirty="0"/>
              <a:t>객실 등급</a:t>
            </a:r>
            <a:r>
              <a:rPr lang="en-US" altLang="ko-KR" sz="1200" dirty="0"/>
              <a:t>(</a:t>
            </a:r>
            <a:r>
              <a:rPr lang="en-US" altLang="ko-KR" sz="1200" dirty="0" err="1"/>
              <a:t>Pclass</a:t>
            </a:r>
            <a:r>
              <a:rPr lang="en-US" altLang="ko-KR" sz="1200" dirty="0"/>
              <a:t>)</a:t>
            </a:r>
          </a:p>
          <a:p>
            <a:pPr>
              <a:lnSpc>
                <a:spcPct val="250000"/>
              </a:lnSpc>
            </a:pPr>
            <a:r>
              <a:rPr lang="en-US" altLang="ko-KR" sz="1200" dirty="0"/>
              <a:t>  - </a:t>
            </a:r>
            <a:r>
              <a:rPr lang="ko-KR" altLang="en-US" sz="1200" dirty="0"/>
              <a:t>상위 등급일수록 </a:t>
            </a:r>
            <a:r>
              <a:rPr lang="ko-KR" altLang="en-US" sz="1200" dirty="0" err="1"/>
              <a:t>생존률</a:t>
            </a:r>
            <a:r>
              <a:rPr lang="ko-KR" altLang="en-US" sz="1200" dirty="0"/>
              <a:t> ↑</a:t>
            </a:r>
          </a:p>
          <a:p>
            <a:pPr>
              <a:lnSpc>
                <a:spcPct val="250000"/>
              </a:lnSpc>
            </a:pPr>
            <a:r>
              <a:rPr lang="ko-KR" altLang="en-US" sz="1200" dirty="0"/>
              <a:t>  → 주요 변수로 판단</a:t>
            </a:r>
          </a:p>
        </p:txBody>
      </p:sp>
    </p:spTree>
    <p:extLst>
      <p:ext uri="{BB962C8B-B14F-4D97-AF65-F5344CB8AC3E}">
        <p14:creationId xmlns:p14="http://schemas.microsoft.com/office/powerpoint/2010/main" val="866445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387B0-F9B0-183D-67EE-9C2A48B1A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692B0-99E7-A5D3-9D0D-A821E3317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726" y="104998"/>
            <a:ext cx="7886700" cy="1325563"/>
          </a:xfrm>
        </p:spPr>
        <p:txBody>
          <a:bodyPr/>
          <a:lstStyle/>
          <a:p>
            <a:r>
              <a:rPr lang="ko-KR" altLang="en-US" dirty="0"/>
              <a:t>통계 검정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3BEAEE-22AE-BEDA-9225-CDFD85FBB9C8}"/>
              </a:ext>
            </a:extLst>
          </p:cNvPr>
          <p:cNvSpPr txBox="1"/>
          <p:nvPr/>
        </p:nvSpPr>
        <p:spPr>
          <a:xfrm>
            <a:off x="3943350" y="1848123"/>
            <a:ext cx="5200650" cy="4096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/>
              <a:t>• </a:t>
            </a:r>
            <a:r>
              <a:rPr lang="ko-KR" altLang="en-US" sz="1200" dirty="0"/>
              <a:t>성별</a:t>
            </a:r>
            <a:r>
              <a:rPr lang="en-US" altLang="ko-KR" sz="1200" dirty="0"/>
              <a:t>(Sex) → </a:t>
            </a:r>
            <a:r>
              <a:rPr lang="ko-KR" altLang="en-US" sz="1200" dirty="0"/>
              <a:t>생존 여부에 유의미한 영향 </a:t>
            </a:r>
            <a:r>
              <a:rPr lang="en-US" altLang="ko-KR" sz="1200" dirty="0"/>
              <a:t>(p &lt; 0.05)</a:t>
            </a:r>
          </a:p>
          <a:p>
            <a:pPr>
              <a:lnSpc>
                <a:spcPct val="200000"/>
              </a:lnSpc>
            </a:pPr>
            <a:endParaRPr lang="en-US" altLang="ko-KR" sz="1200" dirty="0"/>
          </a:p>
          <a:p>
            <a:pPr>
              <a:lnSpc>
                <a:spcPct val="200000"/>
              </a:lnSpc>
            </a:pPr>
            <a:r>
              <a:rPr lang="en-US" altLang="ko-KR" sz="1200" dirty="0"/>
              <a:t>• </a:t>
            </a:r>
            <a:r>
              <a:rPr lang="ko-KR" altLang="en-US" sz="1200" dirty="0"/>
              <a:t>객실 등급</a:t>
            </a:r>
            <a:r>
              <a:rPr lang="en-US" altLang="ko-KR" sz="1200" dirty="0"/>
              <a:t>(</a:t>
            </a:r>
            <a:r>
              <a:rPr lang="en-US" altLang="ko-KR" sz="1200" dirty="0" err="1"/>
              <a:t>Pclass</a:t>
            </a:r>
            <a:r>
              <a:rPr lang="en-US" altLang="ko-KR" sz="1200" dirty="0"/>
              <a:t>) → </a:t>
            </a:r>
            <a:r>
              <a:rPr lang="ko-KR" altLang="en-US" sz="1200" dirty="0"/>
              <a:t>생존 여부에 유의미한 영향 </a:t>
            </a:r>
            <a:r>
              <a:rPr lang="en-US" altLang="ko-KR" sz="1200" dirty="0"/>
              <a:t>(p &lt; 0.05)</a:t>
            </a:r>
          </a:p>
          <a:p>
            <a:pPr>
              <a:lnSpc>
                <a:spcPct val="200000"/>
              </a:lnSpc>
            </a:pPr>
            <a:endParaRPr lang="en-US" altLang="ko-KR" sz="1200" dirty="0"/>
          </a:p>
          <a:p>
            <a:pPr>
              <a:lnSpc>
                <a:spcPct val="200000"/>
              </a:lnSpc>
            </a:pPr>
            <a:r>
              <a:rPr lang="en-US" altLang="ko-KR" sz="1200" dirty="0"/>
              <a:t>• Fare → </a:t>
            </a:r>
            <a:r>
              <a:rPr lang="ko-KR" altLang="en-US" sz="1200" dirty="0"/>
              <a:t>생존 여부에 따라 평균 차이가 유의미하게 나타남 </a:t>
            </a:r>
            <a:r>
              <a:rPr lang="en-US" altLang="ko-KR" sz="1200" dirty="0"/>
              <a:t>(p &lt; 0.05)</a:t>
            </a:r>
          </a:p>
          <a:p>
            <a:pPr>
              <a:lnSpc>
                <a:spcPct val="200000"/>
              </a:lnSpc>
            </a:pPr>
            <a:endParaRPr lang="en-US" altLang="ko-KR" sz="1200" dirty="0"/>
          </a:p>
          <a:p>
            <a:pPr>
              <a:lnSpc>
                <a:spcPct val="200000"/>
              </a:lnSpc>
            </a:pPr>
            <a:r>
              <a:rPr lang="en-US" altLang="ko-KR" sz="1200" dirty="0"/>
              <a:t>• Age → </a:t>
            </a:r>
            <a:r>
              <a:rPr lang="ko-KR" altLang="en-US" sz="1200" dirty="0"/>
              <a:t>유의미한 차이 없음 </a:t>
            </a:r>
            <a:r>
              <a:rPr lang="en-US" altLang="ko-KR" sz="1200" dirty="0"/>
              <a:t>(p &gt; 0.05)</a:t>
            </a:r>
          </a:p>
          <a:p>
            <a:pPr>
              <a:lnSpc>
                <a:spcPct val="200000"/>
              </a:lnSpc>
            </a:pPr>
            <a:endParaRPr lang="en-US" altLang="ko-KR" sz="1200" dirty="0"/>
          </a:p>
          <a:p>
            <a:pPr>
              <a:lnSpc>
                <a:spcPct val="200000"/>
              </a:lnSpc>
            </a:pPr>
            <a:r>
              <a:rPr lang="en-US" altLang="ko-KR" sz="1200" dirty="0"/>
              <a:t>→ </a:t>
            </a:r>
            <a:r>
              <a:rPr lang="ko-KR" altLang="en-US" sz="1200" dirty="0"/>
              <a:t>주요 변수의 통계적 유의성 확인</a:t>
            </a:r>
          </a:p>
          <a:p>
            <a:pPr>
              <a:lnSpc>
                <a:spcPct val="200000"/>
              </a:lnSpc>
            </a:pPr>
            <a:r>
              <a:rPr lang="ko-KR" altLang="en-US" sz="1200" dirty="0"/>
              <a:t>→ </a:t>
            </a:r>
            <a:r>
              <a:rPr lang="en-US" altLang="ko-KR" sz="1200" dirty="0"/>
              <a:t>EDA </a:t>
            </a:r>
            <a:r>
              <a:rPr lang="ko-KR" altLang="en-US" sz="1200" dirty="0"/>
              <a:t>결과의 신뢰성 확보</a:t>
            </a:r>
          </a:p>
          <a:p>
            <a:pPr>
              <a:lnSpc>
                <a:spcPct val="200000"/>
              </a:lnSpc>
            </a:pPr>
            <a:r>
              <a:rPr lang="ko-KR" altLang="en-US" sz="1200" dirty="0"/>
              <a:t>→ 주요 변수 중심으로 모델링 진행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FB7FCEA-3543-4B38-FEEB-C0397611E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25" y="2060215"/>
            <a:ext cx="2991267" cy="971686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A28B5863-27BF-2AAD-9499-DED1550A2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52" y="3939649"/>
            <a:ext cx="2915058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421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" y="-171450"/>
            <a:ext cx="7886700" cy="1325563"/>
          </a:xfrm>
        </p:spPr>
        <p:txBody>
          <a:bodyPr/>
          <a:lstStyle/>
          <a:p>
            <a:r>
              <a:rPr dirty="0"/>
              <a:t>Feature Engineering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2D23BB-2FF0-9770-777A-9C3484C7DAEB}"/>
              </a:ext>
            </a:extLst>
          </p:cNvPr>
          <p:cNvSpPr txBox="1"/>
          <p:nvPr/>
        </p:nvSpPr>
        <p:spPr>
          <a:xfrm>
            <a:off x="4740675" y="2990343"/>
            <a:ext cx="3648075" cy="36576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err="1"/>
              <a:t>AgeBand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FareBand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→ </a:t>
            </a:r>
            <a:r>
              <a:rPr lang="ko-KR" altLang="en-US" sz="1200" dirty="0"/>
              <a:t>연속형 변수 구간화 → 패턴 단순화</a:t>
            </a:r>
          </a:p>
          <a:p>
            <a:pPr>
              <a:lnSpc>
                <a:spcPct val="150000"/>
              </a:lnSpc>
            </a:pPr>
            <a:endParaRPr lang="ko-KR" altLang="en-US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• </a:t>
            </a:r>
            <a:r>
              <a:rPr lang="en-US" altLang="ko-KR" sz="1200" dirty="0" err="1"/>
              <a:t>Fare_log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→ </a:t>
            </a:r>
            <a:r>
              <a:rPr lang="ko-KR" altLang="en-US" sz="1200" dirty="0"/>
              <a:t>로그 변환 → </a:t>
            </a:r>
            <a:r>
              <a:rPr lang="ko-KR" altLang="en-US" sz="1200" dirty="0" err="1"/>
              <a:t>왜도</a:t>
            </a:r>
            <a:r>
              <a:rPr lang="ko-KR" altLang="en-US" sz="1200" dirty="0"/>
              <a:t> 감소 및 분포 안정화</a:t>
            </a:r>
          </a:p>
          <a:p>
            <a:pPr>
              <a:lnSpc>
                <a:spcPct val="150000"/>
              </a:lnSpc>
            </a:pPr>
            <a:endParaRPr lang="ko-KR" altLang="en-US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• </a:t>
            </a:r>
            <a:r>
              <a:rPr lang="en-US" altLang="ko-KR" sz="1200" dirty="0" err="1"/>
              <a:t>CabinDeck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→ </a:t>
            </a:r>
            <a:r>
              <a:rPr lang="ko-KR" altLang="en-US" sz="1200" dirty="0"/>
              <a:t>객실 위치 정보 활용 → 구조 접근성 반영</a:t>
            </a:r>
          </a:p>
          <a:p>
            <a:pPr>
              <a:lnSpc>
                <a:spcPct val="150000"/>
              </a:lnSpc>
            </a:pPr>
            <a:endParaRPr lang="ko-KR" altLang="en-US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• </a:t>
            </a:r>
            <a:r>
              <a:rPr lang="en-US" altLang="ko-KR" sz="1200" dirty="0" err="1"/>
              <a:t>TicketPrefix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→ </a:t>
            </a:r>
            <a:r>
              <a:rPr lang="ko-KR" altLang="en-US" sz="1200" dirty="0"/>
              <a:t>티켓 유형 기반 그룹 정보 반영</a:t>
            </a:r>
          </a:p>
          <a:p>
            <a:pPr>
              <a:lnSpc>
                <a:spcPct val="150000"/>
              </a:lnSpc>
            </a:pPr>
            <a:endParaRPr lang="ko-KR" altLang="en-US" sz="1200" dirty="0"/>
          </a:p>
          <a:p>
            <a:pPr>
              <a:lnSpc>
                <a:spcPct val="150000"/>
              </a:lnSpc>
            </a:pPr>
            <a:endParaRPr lang="ko-KR" altLang="en-US" sz="12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5D47243-6B5C-C754-17FE-679DD58B9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1530366"/>
            <a:ext cx="5639587" cy="1124107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A82EB95-0808-0833-BA2B-CD5B15B44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460" y="1505121"/>
            <a:ext cx="1332714" cy="117459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992FADF-AE16-5678-7000-A98F03949069}"/>
              </a:ext>
            </a:extLst>
          </p:cNvPr>
          <p:cNvSpPr txBox="1"/>
          <p:nvPr/>
        </p:nvSpPr>
        <p:spPr>
          <a:xfrm>
            <a:off x="755250" y="2990343"/>
            <a:ext cx="4586286" cy="3103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• Title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→ Name</a:t>
            </a:r>
            <a:r>
              <a:rPr lang="ko-KR" altLang="en-US" sz="1200" dirty="0"/>
              <a:t>에서 호칭 추출 → 사회적 지위 반영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→ </a:t>
            </a:r>
            <a:r>
              <a:rPr lang="en-US" altLang="ko-KR" sz="1200" dirty="0"/>
              <a:t>Rare </a:t>
            </a:r>
            <a:r>
              <a:rPr lang="ko-KR" altLang="en-US" sz="1200" dirty="0"/>
              <a:t>그룹화로 모델 안정성 확보</a:t>
            </a:r>
          </a:p>
          <a:p>
            <a:pPr>
              <a:lnSpc>
                <a:spcPct val="150000"/>
              </a:lnSpc>
            </a:pPr>
            <a:endParaRPr lang="ko-KR" altLang="en-US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• </a:t>
            </a:r>
            <a:r>
              <a:rPr lang="en-US" altLang="ko-KR" sz="1200" dirty="0" err="1"/>
              <a:t>FamilySize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IsAlone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→ </a:t>
            </a:r>
            <a:r>
              <a:rPr lang="ko-KR" altLang="en-US" sz="1200" dirty="0"/>
              <a:t>가족 단위 여부 반영</a:t>
            </a:r>
            <a:endParaRPr lang="en-US" altLang="ko-KR" sz="1200" dirty="0"/>
          </a:p>
          <a:p>
            <a:endParaRPr lang="ko-KR" altLang="en-US" sz="1200" dirty="0"/>
          </a:p>
          <a:p>
            <a:pPr>
              <a:lnSpc>
                <a:spcPct val="150000"/>
              </a:lnSpc>
            </a:pPr>
            <a:r>
              <a:rPr lang="ko-KR" altLang="en-US" sz="1200" dirty="0"/>
              <a:t>→ </a:t>
            </a:r>
            <a:r>
              <a:rPr lang="en-US" altLang="ko-KR" sz="1200" dirty="0" err="1"/>
              <a:t>IsAlone</a:t>
            </a:r>
            <a:r>
              <a:rPr lang="en-US" altLang="ko-KR" sz="1200" dirty="0"/>
              <a:t> </a:t>
            </a:r>
            <a:r>
              <a:rPr lang="ko-KR" altLang="en-US" sz="1200" dirty="0"/>
              <a:t>기준 생존율 차이 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  </a:t>
            </a:r>
            <a:r>
              <a:rPr lang="en-US" altLang="ko-KR" sz="1200" dirty="0"/>
              <a:t>- </a:t>
            </a:r>
            <a:r>
              <a:rPr lang="ko-KR" altLang="en-US" sz="1200" dirty="0"/>
              <a:t>가족 있음</a:t>
            </a:r>
            <a:r>
              <a:rPr lang="en-US" altLang="ko-KR" sz="1200" dirty="0"/>
              <a:t>: </a:t>
            </a:r>
            <a:r>
              <a:rPr lang="ko-KR" altLang="en-US" sz="1200" dirty="0"/>
              <a:t>약 </a:t>
            </a:r>
            <a:r>
              <a:rPr lang="en-US" altLang="ko-KR" sz="1200" dirty="0"/>
              <a:t>51%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  - </a:t>
            </a:r>
            <a:r>
              <a:rPr lang="ko-KR" altLang="en-US" sz="1200" dirty="0"/>
              <a:t>혼자</a:t>
            </a:r>
            <a:r>
              <a:rPr lang="en-US" altLang="ko-KR" sz="1200" dirty="0"/>
              <a:t>: </a:t>
            </a:r>
            <a:r>
              <a:rPr lang="ko-KR" altLang="en-US" sz="1200" dirty="0"/>
              <a:t>약 </a:t>
            </a:r>
            <a:r>
              <a:rPr lang="en-US" altLang="ko-KR" sz="1200" dirty="0"/>
              <a:t>30%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→ </a:t>
            </a:r>
            <a:r>
              <a:rPr lang="ko-KR" altLang="en-US" sz="1200" dirty="0"/>
              <a:t>주요 변수로 판단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47D447-3701-B78F-67E0-2DF7BFEBAE66}"/>
              </a:ext>
            </a:extLst>
          </p:cNvPr>
          <p:cNvSpPr txBox="1"/>
          <p:nvPr/>
        </p:nvSpPr>
        <p:spPr>
          <a:xfrm>
            <a:off x="755250" y="6353772"/>
            <a:ext cx="45862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→</a:t>
            </a:r>
            <a:r>
              <a:rPr lang="en-US" altLang="ko-KR" sz="1600" dirty="0"/>
              <a:t> </a:t>
            </a:r>
            <a:r>
              <a:rPr lang="ko-KR" altLang="en-US" sz="1600" dirty="0"/>
              <a:t>모델 성능 개선 및 변수 </a:t>
            </a:r>
            <a:r>
              <a:rPr lang="ko-KR" altLang="en-US" sz="1600" dirty="0" err="1"/>
              <a:t>해석력</a:t>
            </a:r>
            <a:r>
              <a:rPr lang="ko-KR" altLang="en-US" sz="1600" dirty="0"/>
              <a:t> 향상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330918"/>
            <a:ext cx="7886700" cy="1325563"/>
          </a:xfrm>
        </p:spPr>
        <p:txBody>
          <a:bodyPr/>
          <a:lstStyle/>
          <a:p>
            <a:r>
              <a:rPr dirty="0" err="1"/>
              <a:t>모델링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3C2025-A830-25EC-4710-9DFDE9AAA4E0}"/>
              </a:ext>
            </a:extLst>
          </p:cNvPr>
          <p:cNvSpPr txBox="1"/>
          <p:nvPr/>
        </p:nvSpPr>
        <p:spPr>
          <a:xfrm>
            <a:off x="323850" y="1812490"/>
            <a:ext cx="4343400" cy="347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400" dirty="0"/>
              <a:t>• </a:t>
            </a:r>
            <a:r>
              <a:rPr lang="ko-KR" altLang="en-US" sz="1400" dirty="0"/>
              <a:t>사용 모델</a:t>
            </a:r>
          </a:p>
          <a:p>
            <a:pPr>
              <a:lnSpc>
                <a:spcPct val="200000"/>
              </a:lnSpc>
            </a:pPr>
            <a:r>
              <a:rPr lang="ko-KR" altLang="en-US" sz="1400" dirty="0"/>
              <a:t>→ </a:t>
            </a:r>
            <a:r>
              <a:rPr lang="en-US" altLang="ko-KR" sz="1400" dirty="0"/>
              <a:t>Logistic Regression / Decision Tree</a:t>
            </a:r>
          </a:p>
          <a:p>
            <a:pPr>
              <a:lnSpc>
                <a:spcPct val="200000"/>
              </a:lnSpc>
            </a:pPr>
            <a:r>
              <a:rPr lang="ko-KR" altLang="en-US" sz="1400" dirty="0"/>
              <a:t>→</a:t>
            </a:r>
            <a:r>
              <a:rPr lang="en-US" altLang="ko-KR" sz="1400" dirty="0"/>
              <a:t> Random Forest / Gradient Boosting</a:t>
            </a:r>
          </a:p>
          <a:p>
            <a:pPr>
              <a:lnSpc>
                <a:spcPct val="200000"/>
              </a:lnSpc>
            </a:pPr>
            <a:endParaRPr lang="en-US" altLang="ko-KR" sz="1400" dirty="0"/>
          </a:p>
          <a:p>
            <a:pPr>
              <a:lnSpc>
                <a:spcPct val="200000"/>
              </a:lnSpc>
            </a:pPr>
            <a:r>
              <a:rPr lang="en-US" altLang="ko-KR" sz="1400" dirty="0"/>
              <a:t>• </a:t>
            </a:r>
            <a:r>
              <a:rPr lang="ko-KR" altLang="en-US" sz="1400" dirty="0"/>
              <a:t>모델 선택 기준</a:t>
            </a:r>
          </a:p>
          <a:p>
            <a:pPr>
              <a:lnSpc>
                <a:spcPct val="200000"/>
              </a:lnSpc>
            </a:pPr>
            <a:r>
              <a:rPr lang="ko-KR" altLang="en-US" sz="1400" dirty="0"/>
              <a:t>→ 교차 검증 기반 성능 비교 </a:t>
            </a:r>
            <a:r>
              <a:rPr lang="en-US" altLang="ko-KR" sz="1400" dirty="0"/>
              <a:t>(Stratified K-Fold)</a:t>
            </a:r>
          </a:p>
          <a:p>
            <a:pPr>
              <a:lnSpc>
                <a:spcPct val="200000"/>
              </a:lnSpc>
            </a:pPr>
            <a:r>
              <a:rPr lang="en-US" altLang="ko-KR" sz="1400" dirty="0"/>
              <a:t>→ F1 Score </a:t>
            </a:r>
            <a:r>
              <a:rPr lang="ko-KR" altLang="en-US" sz="1400" dirty="0"/>
              <a:t>기준 평가 </a:t>
            </a:r>
            <a:r>
              <a:rPr lang="en-US" altLang="ko-KR" sz="1400" dirty="0"/>
              <a:t>(</a:t>
            </a:r>
            <a:r>
              <a:rPr lang="ko-KR" altLang="en-US" sz="1400" dirty="0"/>
              <a:t>불균형 데이터 고려</a:t>
            </a:r>
            <a:r>
              <a:rPr lang="en-US" altLang="ko-KR" sz="1400" dirty="0"/>
              <a:t>)</a:t>
            </a:r>
          </a:p>
          <a:p>
            <a:pPr>
              <a:lnSpc>
                <a:spcPct val="200000"/>
              </a:lnSpc>
            </a:pPr>
            <a:endParaRPr lang="en-US" altLang="ko-KR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641561-C88C-BF8D-709C-9135CC1C74E0}"/>
              </a:ext>
            </a:extLst>
          </p:cNvPr>
          <p:cNvSpPr txBox="1"/>
          <p:nvPr/>
        </p:nvSpPr>
        <p:spPr>
          <a:xfrm>
            <a:off x="4667250" y="1672355"/>
            <a:ext cx="4572000" cy="390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400" dirty="0"/>
              <a:t>• </a:t>
            </a:r>
            <a:r>
              <a:rPr lang="ko-KR" altLang="en-US" sz="1400" dirty="0"/>
              <a:t>최종 모델</a:t>
            </a:r>
          </a:p>
          <a:p>
            <a:pPr>
              <a:lnSpc>
                <a:spcPct val="200000"/>
              </a:lnSpc>
            </a:pPr>
            <a:r>
              <a:rPr lang="en-US" altLang="ko-KR" sz="1400" dirty="0"/>
              <a:t>→ Random Forest (</a:t>
            </a:r>
            <a:r>
              <a:rPr lang="ko-KR" altLang="en-US" sz="1400" dirty="0"/>
              <a:t>최종 선택</a:t>
            </a:r>
            <a:r>
              <a:rPr lang="en-US" altLang="ko-KR" sz="1400" dirty="0"/>
              <a:t>)</a:t>
            </a:r>
          </a:p>
          <a:p>
            <a:pPr>
              <a:lnSpc>
                <a:spcPct val="200000"/>
              </a:lnSpc>
            </a:pPr>
            <a:endParaRPr lang="en-US" altLang="ko-KR" sz="1400" dirty="0"/>
          </a:p>
          <a:p>
            <a:pPr>
              <a:lnSpc>
                <a:spcPct val="200000"/>
              </a:lnSpc>
            </a:pPr>
            <a:r>
              <a:rPr lang="en-US" altLang="ko-KR" sz="1400" dirty="0"/>
              <a:t>• </a:t>
            </a:r>
            <a:r>
              <a:rPr lang="ko-KR" altLang="en-US" sz="1400" dirty="0"/>
              <a:t>선택 이유</a:t>
            </a:r>
          </a:p>
          <a:p>
            <a:pPr>
              <a:lnSpc>
                <a:spcPct val="200000"/>
              </a:lnSpc>
            </a:pPr>
            <a:r>
              <a:rPr lang="ko-KR" altLang="en-US" sz="1400" dirty="0"/>
              <a:t>→ 비선형 관계 및 변수 간 상호작용 학습</a:t>
            </a:r>
          </a:p>
          <a:p>
            <a:pPr>
              <a:lnSpc>
                <a:spcPct val="200000"/>
              </a:lnSpc>
            </a:pPr>
            <a:r>
              <a:rPr lang="ko-KR" altLang="en-US" sz="1400" dirty="0"/>
              <a:t>→ </a:t>
            </a:r>
            <a:r>
              <a:rPr lang="en-US" altLang="ko-KR" sz="1400" dirty="0"/>
              <a:t>Ensemble </a:t>
            </a:r>
            <a:r>
              <a:rPr lang="ko-KR" altLang="en-US" sz="1400" dirty="0"/>
              <a:t>기반으로 과적합에 강함</a:t>
            </a:r>
            <a:endParaRPr lang="en-US" altLang="ko-KR" sz="1400" dirty="0"/>
          </a:p>
          <a:p>
            <a:pPr>
              <a:lnSpc>
                <a:spcPct val="200000"/>
              </a:lnSpc>
            </a:pPr>
            <a:endParaRPr lang="ko-KR" altLang="en-US" sz="1400" dirty="0"/>
          </a:p>
          <a:p>
            <a:pPr>
              <a:lnSpc>
                <a:spcPct val="200000"/>
              </a:lnSpc>
            </a:pPr>
            <a:r>
              <a:rPr lang="en-US" altLang="ko-KR" sz="1400" dirty="0"/>
              <a:t>• </a:t>
            </a:r>
            <a:r>
              <a:rPr lang="ko-KR" altLang="en-US" sz="1400" dirty="0"/>
              <a:t>결과</a:t>
            </a:r>
          </a:p>
          <a:p>
            <a:pPr>
              <a:lnSpc>
                <a:spcPct val="200000"/>
              </a:lnSpc>
            </a:pPr>
            <a:r>
              <a:rPr lang="ko-KR" altLang="en-US" sz="1400" dirty="0"/>
              <a:t>→ 가장 높은 </a:t>
            </a:r>
            <a:r>
              <a:rPr lang="en-US" altLang="ko-KR" sz="1400" dirty="0"/>
              <a:t>F1 Score </a:t>
            </a:r>
            <a:r>
              <a:rPr lang="ko-KR" altLang="en-US" sz="1400" dirty="0"/>
              <a:t>기록 → 최종 모델 선정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63D02-73DD-7585-B0BC-EC4B68C17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5551F-0644-3230-4E13-A968521B2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2317"/>
            <a:ext cx="7886700" cy="1325563"/>
          </a:xfrm>
        </p:spPr>
        <p:txBody>
          <a:bodyPr/>
          <a:lstStyle/>
          <a:p>
            <a:r>
              <a:rPr lang="en-US" altLang="ko-KR" dirty="0"/>
              <a:t>Feature Importance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8EB66B-4A3F-A07B-B61C-B53428FAAA0B}"/>
              </a:ext>
            </a:extLst>
          </p:cNvPr>
          <p:cNvSpPr txBox="1"/>
          <p:nvPr/>
        </p:nvSpPr>
        <p:spPr>
          <a:xfrm>
            <a:off x="4829175" y="1408831"/>
            <a:ext cx="4572000" cy="4488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• </a:t>
            </a:r>
            <a:r>
              <a:rPr lang="ko-KR" altLang="en-US" sz="1200" dirty="0"/>
              <a:t>주요 변수 중요도 분석 </a:t>
            </a:r>
            <a:r>
              <a:rPr lang="en-US" altLang="ko-KR" sz="1200" dirty="0"/>
              <a:t>(Random Forest)</a:t>
            </a:r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→ </a:t>
            </a:r>
            <a:r>
              <a:rPr lang="ko-KR" altLang="en-US" sz="1200" dirty="0"/>
              <a:t>주요 변수</a:t>
            </a:r>
            <a:r>
              <a:rPr lang="en-US" altLang="ko-KR" sz="1200" dirty="0"/>
              <a:t>: Sex, </a:t>
            </a:r>
            <a:r>
              <a:rPr lang="en-US" altLang="ko-KR" sz="1200" dirty="0" err="1"/>
              <a:t>Pclass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Fare_log</a:t>
            </a:r>
            <a:r>
              <a:rPr lang="en-US" altLang="ko-KR" sz="1200" dirty="0"/>
              <a:t>, Title, </a:t>
            </a:r>
            <a:r>
              <a:rPr lang="en-US" altLang="ko-KR" sz="1200" dirty="0" err="1"/>
              <a:t>FamilySize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• </a:t>
            </a:r>
            <a:r>
              <a:rPr lang="ko-KR" altLang="en-US" sz="1200" dirty="0"/>
              <a:t>해석</a:t>
            </a:r>
          </a:p>
          <a:p>
            <a:pPr>
              <a:lnSpc>
                <a:spcPct val="150000"/>
              </a:lnSpc>
            </a:pPr>
            <a:endParaRPr lang="ko-KR" altLang="en-US" sz="1200" dirty="0"/>
          </a:p>
          <a:p>
            <a:pPr>
              <a:lnSpc>
                <a:spcPct val="150000"/>
              </a:lnSpc>
            </a:pPr>
            <a:r>
              <a:rPr lang="ko-KR" altLang="en-US" sz="1200" dirty="0"/>
              <a:t>→ </a:t>
            </a:r>
            <a:r>
              <a:rPr lang="en-US" altLang="ko-KR" sz="1200" dirty="0"/>
              <a:t>Sex : </a:t>
            </a:r>
            <a:r>
              <a:rPr lang="ko-KR" altLang="en-US" sz="1200" dirty="0"/>
              <a:t>여성의 </a:t>
            </a:r>
            <a:r>
              <a:rPr lang="ko-KR" altLang="en-US" sz="1200" dirty="0" err="1"/>
              <a:t>생존률이</a:t>
            </a:r>
            <a:r>
              <a:rPr lang="ko-KR" altLang="en-US" sz="1200" dirty="0"/>
              <a:t> 높았던 </a:t>
            </a:r>
            <a:r>
              <a:rPr lang="en-US" altLang="ko-KR" sz="1200" dirty="0"/>
              <a:t>EDA </a:t>
            </a:r>
            <a:r>
              <a:rPr lang="ko-KR" altLang="en-US" sz="1200" dirty="0"/>
              <a:t>결과와 일치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→ </a:t>
            </a:r>
            <a:r>
              <a:rPr lang="en-US" altLang="ko-KR" sz="1200" dirty="0" err="1"/>
              <a:t>Pclass</a:t>
            </a:r>
            <a:r>
              <a:rPr lang="en-US" altLang="ko-KR" sz="1200" dirty="0"/>
              <a:t> : </a:t>
            </a:r>
            <a:r>
              <a:rPr lang="ko-KR" altLang="en-US" sz="1200" dirty="0"/>
              <a:t>상위 등급일수록 </a:t>
            </a:r>
            <a:r>
              <a:rPr lang="ko-KR" altLang="en-US" sz="1200" dirty="0" err="1"/>
              <a:t>생존률이</a:t>
            </a:r>
            <a:r>
              <a:rPr lang="ko-KR" altLang="en-US" sz="1200" dirty="0"/>
              <a:t> 높은 패턴 반영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→ </a:t>
            </a:r>
            <a:r>
              <a:rPr lang="en-US" altLang="ko-KR" sz="1200" dirty="0" err="1"/>
              <a:t>Fare_log</a:t>
            </a:r>
            <a:r>
              <a:rPr lang="en-US" altLang="ko-KR" sz="1200" dirty="0"/>
              <a:t> : </a:t>
            </a:r>
            <a:r>
              <a:rPr lang="ko-KR" altLang="en-US" sz="1200" dirty="0"/>
              <a:t>요금이 높을수록 생존 확률 증가 </a:t>
            </a:r>
            <a:r>
              <a:rPr lang="en-US" altLang="ko-KR" sz="1200" dirty="0"/>
              <a:t>(</a:t>
            </a:r>
            <a:r>
              <a:rPr lang="ko-KR" altLang="en-US" sz="1200" dirty="0"/>
              <a:t>계층 반영</a:t>
            </a:r>
            <a:r>
              <a:rPr lang="en-US" altLang="ko-KR" sz="12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→ Title : </a:t>
            </a:r>
            <a:r>
              <a:rPr lang="ko-KR" altLang="en-US" sz="1200" dirty="0"/>
              <a:t>성별 및 사회적 지위</a:t>
            </a:r>
            <a:r>
              <a:rPr lang="en-US" altLang="ko-KR" sz="1200" dirty="0"/>
              <a:t>, </a:t>
            </a:r>
            <a:r>
              <a:rPr lang="ko-KR" altLang="en-US" sz="1200" dirty="0"/>
              <a:t>보호 대상 여부 반영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→ </a:t>
            </a:r>
            <a:r>
              <a:rPr lang="en-US" altLang="ko-KR" sz="1200" dirty="0" err="1"/>
              <a:t>FamilySize</a:t>
            </a:r>
            <a:r>
              <a:rPr lang="en-US" altLang="ko-KR" sz="1200" dirty="0"/>
              <a:t> : </a:t>
            </a:r>
            <a:r>
              <a:rPr lang="ko-KR" altLang="en-US" sz="1200" dirty="0"/>
              <a:t>가족 규모에 따른 생존 전략 차이 반영</a:t>
            </a:r>
          </a:p>
          <a:p>
            <a:pPr>
              <a:lnSpc>
                <a:spcPct val="150000"/>
              </a:lnSpc>
            </a:pPr>
            <a:endParaRPr lang="ko-KR" altLang="en-US" sz="1200" dirty="0"/>
          </a:p>
          <a:p>
            <a:pPr>
              <a:lnSpc>
                <a:spcPct val="150000"/>
              </a:lnSpc>
            </a:pPr>
            <a:r>
              <a:rPr lang="ko-KR" altLang="en-US" sz="1200" dirty="0"/>
              <a:t>→ </a:t>
            </a:r>
            <a:r>
              <a:rPr lang="en-US" altLang="ko-KR" sz="1200" dirty="0"/>
              <a:t>Title</a:t>
            </a:r>
            <a:r>
              <a:rPr lang="ko-KR" altLang="en-US" sz="1200" dirty="0"/>
              <a:t>과 같은 파생 변수가 높은 중요도를 보이며</a:t>
            </a:r>
            <a:r>
              <a:rPr lang="en-US" altLang="ko-KR" sz="1200" dirty="0"/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   Feature Engineering</a:t>
            </a:r>
            <a:r>
              <a:rPr lang="ko-KR" altLang="en-US" sz="1200" dirty="0"/>
              <a:t>의 효과 확인</a:t>
            </a:r>
          </a:p>
          <a:p>
            <a:pPr>
              <a:lnSpc>
                <a:spcPct val="150000"/>
              </a:lnSpc>
            </a:pPr>
            <a:endParaRPr lang="ko-KR" altLang="en-US" sz="1200" dirty="0"/>
          </a:p>
          <a:p>
            <a:pPr>
              <a:lnSpc>
                <a:spcPct val="150000"/>
              </a:lnSpc>
            </a:pPr>
            <a:r>
              <a:rPr lang="ko-KR" altLang="en-US" sz="1200" dirty="0"/>
              <a:t>→ </a:t>
            </a:r>
            <a:r>
              <a:rPr lang="en-US" altLang="ko-KR" sz="1200" dirty="0"/>
              <a:t>EDA</a:t>
            </a:r>
            <a:r>
              <a:rPr lang="ko-KR" altLang="en-US" sz="1200" dirty="0"/>
              <a:t>에서 발견한 패턴이 모델에서도 주요 변수로 반영됨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813447C-9829-A7C9-DCC8-D40F73F23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408831"/>
            <a:ext cx="4572000" cy="272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621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25" y="0"/>
            <a:ext cx="7886700" cy="1325563"/>
          </a:xfrm>
        </p:spPr>
        <p:txBody>
          <a:bodyPr/>
          <a:lstStyle/>
          <a:p>
            <a:r>
              <a:rPr dirty="0" err="1"/>
              <a:t>결과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81A946-96FE-C333-4F0F-F8996EA4A33A}"/>
              </a:ext>
            </a:extLst>
          </p:cNvPr>
          <p:cNvSpPr txBox="1"/>
          <p:nvPr/>
        </p:nvSpPr>
        <p:spPr>
          <a:xfrm>
            <a:off x="1743603" y="4218562"/>
            <a:ext cx="772424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→ </a:t>
            </a:r>
            <a:r>
              <a:rPr lang="en-US" altLang="ko-KR" sz="1400" dirty="0"/>
              <a:t>Random Forest </a:t>
            </a:r>
            <a:r>
              <a:rPr lang="ko-KR" altLang="en-US" sz="1400" dirty="0"/>
              <a:t>모델이 교차 검증 기준 가장 높은 성능을 기록</a:t>
            </a:r>
          </a:p>
          <a:p>
            <a:endParaRPr lang="ko-KR" altLang="en-US" sz="1400" dirty="0"/>
          </a:p>
          <a:p>
            <a:r>
              <a:rPr lang="ko-KR" altLang="en-US" sz="1400" dirty="0"/>
              <a:t>→ 교차 검증 </a:t>
            </a:r>
            <a:r>
              <a:rPr lang="en-US" altLang="ko-KR" sz="1400" dirty="0"/>
              <a:t>F1 Score(0.7715)</a:t>
            </a:r>
            <a:r>
              <a:rPr lang="ko-KR" altLang="en-US" sz="1400" dirty="0"/>
              <a:t>와 </a:t>
            </a:r>
            <a:r>
              <a:rPr lang="en-US" altLang="ko-KR" sz="1400" dirty="0"/>
              <a:t>Kaggle </a:t>
            </a:r>
            <a:r>
              <a:rPr lang="ko-KR" altLang="en-US" sz="1400" dirty="0"/>
              <a:t>점수</a:t>
            </a:r>
            <a:r>
              <a:rPr lang="en-US" altLang="ko-KR" sz="1400" dirty="0"/>
              <a:t>(0.77990)</a:t>
            </a:r>
            <a:r>
              <a:rPr lang="ko-KR" altLang="en-US" sz="1400" dirty="0"/>
              <a:t>가</a:t>
            </a:r>
          </a:p>
          <a:p>
            <a:r>
              <a:rPr lang="ko-KR" altLang="en-US" sz="1400" dirty="0"/>
              <a:t>   유사하게 나타나 일반화 성능이 안정적으로 확보됨</a:t>
            </a:r>
          </a:p>
          <a:p>
            <a:endParaRPr lang="ko-KR" altLang="en-US" sz="1400" dirty="0"/>
          </a:p>
          <a:p>
            <a:r>
              <a:rPr lang="ko-KR" altLang="en-US" sz="1400" dirty="0"/>
              <a:t>→ </a:t>
            </a:r>
            <a:r>
              <a:rPr lang="en-US" altLang="ko-KR" sz="1400" dirty="0"/>
              <a:t>EDA </a:t>
            </a:r>
            <a:r>
              <a:rPr lang="ko-KR" altLang="en-US" sz="1400" dirty="0"/>
              <a:t>및 </a:t>
            </a:r>
            <a:r>
              <a:rPr lang="en-US" altLang="ko-KR" sz="1400" dirty="0"/>
              <a:t>Feature Engineering </a:t>
            </a:r>
            <a:r>
              <a:rPr lang="ko-KR" altLang="en-US" sz="1400" dirty="0"/>
              <a:t>과정에서 도출한 변수들이</a:t>
            </a:r>
          </a:p>
          <a:p>
            <a:r>
              <a:rPr lang="ko-KR" altLang="en-US" sz="1400" dirty="0"/>
              <a:t>   실제 모델 성능 향상에 기여</a:t>
            </a:r>
          </a:p>
          <a:p>
            <a:endParaRPr lang="ko-KR" altLang="en-US" sz="1400" dirty="0"/>
          </a:p>
          <a:p>
            <a:r>
              <a:rPr lang="ko-KR" altLang="en-US" sz="1400" dirty="0"/>
              <a:t>→ 특히 성별</a:t>
            </a:r>
            <a:r>
              <a:rPr lang="en-US" altLang="ko-KR" sz="1400" dirty="0"/>
              <a:t>, </a:t>
            </a:r>
            <a:r>
              <a:rPr lang="ko-KR" altLang="en-US" sz="1400" dirty="0"/>
              <a:t>객실 등급</a:t>
            </a:r>
            <a:r>
              <a:rPr lang="en-US" altLang="ko-KR" sz="1400" dirty="0"/>
              <a:t>, </a:t>
            </a:r>
            <a:r>
              <a:rPr lang="ko-KR" altLang="en-US" sz="1400" dirty="0"/>
              <a:t>요금</a:t>
            </a:r>
            <a:r>
              <a:rPr lang="en-US" altLang="ko-KR" sz="1400" dirty="0"/>
              <a:t>, </a:t>
            </a:r>
            <a:r>
              <a:rPr lang="ko-KR" altLang="en-US" sz="1400" dirty="0"/>
              <a:t>호칭 등</a:t>
            </a:r>
          </a:p>
          <a:p>
            <a:r>
              <a:rPr lang="ko-KR" altLang="en-US" sz="1400" dirty="0"/>
              <a:t>   생존과 관련된 변수들이 모델에 효과적으로 반영됨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CE8095A8-D254-7109-2E82-0DDB7C661C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5C07D0B-696A-F299-57B9-195D2765E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497" y="915962"/>
            <a:ext cx="6154206" cy="3112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한계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689FD3-B277-4E61-33D3-5BBBB192AB8F}"/>
              </a:ext>
            </a:extLst>
          </p:cNvPr>
          <p:cNvSpPr txBox="1"/>
          <p:nvPr/>
        </p:nvSpPr>
        <p:spPr>
          <a:xfrm>
            <a:off x="1866899" y="2039184"/>
            <a:ext cx="6867525" cy="3282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• </a:t>
            </a:r>
            <a:r>
              <a:rPr lang="ko-KR" altLang="en-US" sz="1400" dirty="0"/>
              <a:t>주요 한계</a:t>
            </a:r>
          </a:p>
          <a:p>
            <a:pPr>
              <a:lnSpc>
                <a:spcPct val="150000"/>
              </a:lnSpc>
            </a:pPr>
            <a:endParaRPr lang="ko-KR" altLang="en-US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→ </a:t>
            </a:r>
            <a:r>
              <a:rPr lang="ko-KR" altLang="en-US" sz="1400" dirty="0" err="1"/>
              <a:t>하이퍼파라미터</a:t>
            </a:r>
            <a:r>
              <a:rPr lang="ko-KR" altLang="en-US" sz="1400" dirty="0"/>
              <a:t> 튜닝 미흡으로 성능 개선 여지 존재</a:t>
            </a:r>
          </a:p>
          <a:p>
            <a:pPr>
              <a:lnSpc>
                <a:spcPct val="150000"/>
              </a:lnSpc>
            </a:pPr>
            <a:endParaRPr lang="ko-KR" altLang="en-US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→ </a:t>
            </a:r>
            <a:r>
              <a:rPr lang="en-US" altLang="ko-KR" sz="1400" dirty="0"/>
              <a:t>Feature Engineering </a:t>
            </a:r>
            <a:r>
              <a:rPr lang="ko-KR" altLang="en-US" sz="1400" dirty="0"/>
              <a:t>과정에서 변수 간 중복 정보 가능성 존재</a:t>
            </a:r>
          </a:p>
          <a:p>
            <a:pPr>
              <a:lnSpc>
                <a:spcPct val="150000"/>
              </a:lnSpc>
            </a:pPr>
            <a:r>
              <a:rPr lang="ko-KR" altLang="en-US" sz="1400" dirty="0"/>
              <a:t>   </a:t>
            </a:r>
            <a:r>
              <a:rPr lang="en-US" altLang="ko-KR" sz="1400" dirty="0"/>
              <a:t>(</a:t>
            </a:r>
            <a:r>
              <a:rPr lang="ko-KR" altLang="en-US" sz="1400" dirty="0"/>
              <a:t>예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FamilySize</a:t>
            </a:r>
            <a:r>
              <a:rPr lang="ko-KR" altLang="en-US" sz="1400" dirty="0"/>
              <a:t>와 </a:t>
            </a:r>
            <a:r>
              <a:rPr lang="en-US" altLang="ko-KR" sz="1400" dirty="0" err="1"/>
              <a:t>IsAlone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→ Tree </a:t>
            </a:r>
            <a:r>
              <a:rPr lang="ko-KR" altLang="en-US" sz="1400" dirty="0"/>
              <a:t>기반 중요도에 의존하여 변수 해석이 제한적</a:t>
            </a:r>
          </a:p>
          <a:p>
            <a:pPr>
              <a:lnSpc>
                <a:spcPct val="150000"/>
              </a:lnSpc>
            </a:pPr>
            <a:endParaRPr lang="ko-KR" altLang="en-US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→ 외부 데이터 미활용으로 다양한 요인 반영에 한계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결론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CB587A-DDD8-439B-13E3-87158F8FE00B}"/>
              </a:ext>
            </a:extLst>
          </p:cNvPr>
          <p:cNvSpPr txBox="1"/>
          <p:nvPr/>
        </p:nvSpPr>
        <p:spPr>
          <a:xfrm>
            <a:off x="1638300" y="1724830"/>
            <a:ext cx="7505700" cy="347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400" dirty="0"/>
              <a:t>→ </a:t>
            </a:r>
            <a:r>
              <a:rPr lang="en-US" altLang="ko-KR" sz="1400" dirty="0"/>
              <a:t>Titanic </a:t>
            </a:r>
            <a:r>
              <a:rPr lang="ko-KR" altLang="en-US" sz="1400" dirty="0"/>
              <a:t>데이터 분석을 통해 생존에 영향을 주는 변수 확인</a:t>
            </a:r>
          </a:p>
          <a:p>
            <a:pPr>
              <a:lnSpc>
                <a:spcPct val="200000"/>
              </a:lnSpc>
            </a:pPr>
            <a:endParaRPr lang="ko-KR" altLang="en-US" sz="1400" dirty="0"/>
          </a:p>
          <a:p>
            <a:pPr>
              <a:lnSpc>
                <a:spcPct val="200000"/>
              </a:lnSpc>
            </a:pPr>
            <a:r>
              <a:rPr lang="ko-KR" altLang="en-US" sz="1400" dirty="0"/>
              <a:t>→ 성별</a:t>
            </a:r>
            <a:r>
              <a:rPr lang="en-US" altLang="ko-KR" sz="1400" dirty="0"/>
              <a:t>, </a:t>
            </a:r>
            <a:r>
              <a:rPr lang="ko-KR" altLang="en-US" sz="1400" dirty="0"/>
              <a:t>객실 등급</a:t>
            </a:r>
            <a:r>
              <a:rPr lang="en-US" altLang="ko-KR" sz="1400" dirty="0"/>
              <a:t>, </a:t>
            </a:r>
            <a:r>
              <a:rPr lang="ko-KR" altLang="en-US" sz="1400" dirty="0"/>
              <a:t>요금</a:t>
            </a:r>
            <a:r>
              <a:rPr lang="en-US" altLang="ko-KR" sz="1400" dirty="0"/>
              <a:t>, </a:t>
            </a:r>
            <a:r>
              <a:rPr lang="ko-KR" altLang="en-US" sz="1400" dirty="0"/>
              <a:t>호칭 등 생존과 관련된 패턴 도출</a:t>
            </a:r>
          </a:p>
          <a:p>
            <a:pPr>
              <a:lnSpc>
                <a:spcPct val="200000"/>
              </a:lnSpc>
            </a:pPr>
            <a:endParaRPr lang="ko-KR" altLang="en-US" sz="1400" dirty="0"/>
          </a:p>
          <a:p>
            <a:pPr>
              <a:lnSpc>
                <a:spcPct val="200000"/>
              </a:lnSpc>
            </a:pPr>
            <a:r>
              <a:rPr lang="ko-KR" altLang="en-US" sz="1400" dirty="0"/>
              <a:t>→ </a:t>
            </a:r>
            <a:r>
              <a:rPr lang="en-US" altLang="ko-KR" sz="1400" dirty="0"/>
              <a:t>Feature Engineering</a:t>
            </a:r>
            <a:r>
              <a:rPr lang="ko-KR" altLang="en-US" sz="1400" dirty="0"/>
              <a:t>을 통해 모델 성능 및 변수 </a:t>
            </a:r>
            <a:r>
              <a:rPr lang="ko-KR" altLang="en-US" sz="1400" dirty="0" err="1"/>
              <a:t>해석력</a:t>
            </a:r>
            <a:r>
              <a:rPr lang="ko-KR" altLang="en-US" sz="1400" dirty="0"/>
              <a:t> 향상</a:t>
            </a:r>
          </a:p>
          <a:p>
            <a:pPr>
              <a:lnSpc>
                <a:spcPct val="200000"/>
              </a:lnSpc>
            </a:pPr>
            <a:endParaRPr lang="ko-KR" altLang="en-US" sz="1400" dirty="0"/>
          </a:p>
          <a:p>
            <a:pPr>
              <a:lnSpc>
                <a:spcPct val="200000"/>
              </a:lnSpc>
            </a:pPr>
            <a:r>
              <a:rPr lang="ko-KR" altLang="en-US" sz="1400" dirty="0"/>
              <a:t>→ </a:t>
            </a:r>
            <a:r>
              <a:rPr lang="en-US" altLang="ko-KR" sz="1400" dirty="0"/>
              <a:t>Random Forest </a:t>
            </a:r>
            <a:r>
              <a:rPr lang="ko-KR" altLang="en-US" sz="1400" dirty="0"/>
              <a:t>모델이 가장 높은 성능을 보이며</a:t>
            </a:r>
          </a:p>
          <a:p>
            <a:pPr>
              <a:lnSpc>
                <a:spcPct val="200000"/>
              </a:lnSpc>
            </a:pPr>
            <a:r>
              <a:rPr lang="ko-KR" altLang="en-US" sz="1400" dirty="0"/>
              <a:t>   안정적인 일반화 성능을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</TotalTime>
  <Words>891</Words>
  <Application>Microsoft Office PowerPoint</Application>
  <PresentationFormat>화면 슬라이드 쇼(4:3)</PresentationFormat>
  <Paragraphs>192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타이타닉 생존 예측 프로젝트</vt:lpstr>
      <vt:lpstr>목차</vt:lpstr>
      <vt:lpstr>프로젝트 개요</vt:lpstr>
      <vt:lpstr>데이터 소개</vt:lpstr>
      <vt:lpstr>문제 정의</vt:lpstr>
      <vt:lpstr>info</vt:lpstr>
      <vt:lpstr>결측값 처리</vt:lpstr>
      <vt:lpstr>EDA (단변량 분석)</vt:lpstr>
      <vt:lpstr>EDA (이변량 분석)</vt:lpstr>
      <vt:lpstr>통계 검정</vt:lpstr>
      <vt:lpstr>Feature Engineering</vt:lpstr>
      <vt:lpstr>모델링</vt:lpstr>
      <vt:lpstr>Feature Importance</vt:lpstr>
      <vt:lpstr>결과</vt:lpstr>
      <vt:lpstr>한계</vt:lpstr>
      <vt:lpstr>결론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hyemin kim</dc:creator>
  <cp:keywords/>
  <dc:description>generated using python-pptx</dc:description>
  <cp:lastModifiedBy>hyemin kim</cp:lastModifiedBy>
  <cp:revision>3</cp:revision>
  <dcterms:created xsi:type="dcterms:W3CDTF">2013-01-27T09:14:16Z</dcterms:created>
  <dcterms:modified xsi:type="dcterms:W3CDTF">2026-04-28T03:49:57Z</dcterms:modified>
  <cp:category/>
</cp:coreProperties>
</file>